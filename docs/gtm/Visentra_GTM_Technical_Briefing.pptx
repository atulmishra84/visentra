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AB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B8B0"/>
                </a:solidFill>
                <a:latin typeface="Calibri"/>
              </a:rPr>
              <a:t>PRODUCT MARKETING  ·  GO-TO-MARKET + TECHNICAL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Visentra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E8EEF4"/>
                </a:solidFill>
                <a:latin typeface="Calibri"/>
              </a:rPr>
              <a:t>Enterprise AI Agent Discovery &amp; Visibility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8B7C7"/>
                </a:solidFill>
                <a:latin typeface="Calibri"/>
              </a:rPr>
              <a:t>Know every agent, model, edge, and runtime in motion.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937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8B7C7"/>
                </a:solidFill>
                <a:latin typeface="Calibri"/>
              </a:rPr>
              <a:t>GTM strategy  ·  Technical architecture  ·  Demo narrative  ·  Competitive frame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436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B7C7"/>
                </a:solidFill>
                <a:latin typeface="Calibri"/>
              </a:rPr>
              <a:t>Prepared for sales, partners, and technical buyers  |  Stage 1: Production Discovery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B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8B7C7"/>
                </a:solidFill>
                <a:latin typeface="Calibri"/>
              </a:rPr>
              <a:t>How we’ll take Visentra to market — with technical proof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822960" cy="502920"/>
          </a:xfrm>
          <a:prstGeom prst="roundRect">
            <a:avLst/>
          </a:prstGeom>
          <a:solidFill>
            <a:srgbClr val="0E8A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44752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4447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Market moment &amp; problem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057400"/>
            <a:ext cx="822960" cy="502920"/>
          </a:xfrm>
          <a:prstGeom prst="roundRect">
            <a:avLst/>
          </a:prstGeom>
          <a:solidFill>
            <a:srgbClr val="0E8A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30552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1305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Positioning, ICP &amp; messaging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743200"/>
            <a:ext cx="822960" cy="502920"/>
          </a:xfrm>
          <a:prstGeom prst="roundRect">
            <a:avLst/>
          </a:prstGeom>
          <a:solidFill>
            <a:srgbClr val="0E8A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816352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28163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Product capabilities &amp; AI BOM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429000"/>
            <a:ext cx="822960" cy="502920"/>
          </a:xfrm>
          <a:prstGeom prst="roundRect">
            <a:avLst/>
          </a:prstGeom>
          <a:solidFill>
            <a:srgbClr val="0E8A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502152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3502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Technical architecture &amp; deployment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114800"/>
            <a:ext cx="822960" cy="502920"/>
          </a:xfrm>
          <a:prstGeom prst="roundRect">
            <a:avLst/>
          </a:prstGeom>
          <a:solidFill>
            <a:srgbClr val="0E8A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187952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41879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GTM motion, packaging &amp; proof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800600"/>
            <a:ext cx="822960" cy="502920"/>
          </a:xfrm>
          <a:prstGeom prst="roundRect">
            <a:avLst/>
          </a:prstGeom>
          <a:solidFill>
            <a:srgbClr val="0E8A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873752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48737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Roadmap boundary &amp; call to action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B7C7"/>
                </a:solidFill>
                <a:latin typeface="Calibri"/>
              </a:rPr>
              <a:t>Visentra  ·  Confidential  ·  GTM &amp; Technical Briefing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8B7C7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B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 market moment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8B7C7"/>
                </a:solidFill>
                <a:latin typeface="Calibri"/>
              </a:rPr>
              <a:t>AI agents are already inside the enterprise — visibility has not kept 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E8EEF4"/>
                </a:solidFill>
                <a:latin typeface="Calibri"/>
              </a:rPr>
              <a:t>▸  Agents span IDEs, SaaS copilots, cloud AI services, MCP servers, local LLMs, CI pipelines, and containers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8EEF4"/>
                </a:solidFill>
                <a:latin typeface="Calibri"/>
              </a:rPr>
              <a:t>▸  Security and ops stacks see fragments — EDR, CSPM, CMDB, AppSec — not a unified agent inventory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8EEF4"/>
                </a:solidFill>
                <a:latin typeface="Calibri"/>
              </a:rPr>
              <a:t>▸  Shadow AI grows where ownership, identity, and tooling are unknown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8EEF4"/>
                </a:solidFill>
                <a:latin typeface="Calibri"/>
              </a:rPr>
              <a:t>▸  Boards ask: What AI is running? Who owns it? What can it touch?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8EEF4"/>
                </a:solidFill>
                <a:latin typeface="Calibri"/>
              </a:rPr>
              <a:t>▸  Governance tools assume an inventory that does not yet exist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463040"/>
            <a:ext cx="4937760" cy="4114800"/>
          </a:xfrm>
          <a:prstGeom prst="roundRect">
            <a:avLst/>
          </a:prstGeom>
          <a:solidFill>
            <a:srgbClr val="16324C"/>
          </a:solidFill>
          <a:ln>
            <a:solidFill>
              <a:srgbClr val="1E4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600200"/>
            <a:ext cx="4617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B8B0"/>
                </a:solidFill>
                <a:latin typeface="Calibri"/>
              </a:rPr>
              <a:t>STAKEHOLDER TRUTH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1965960"/>
            <a:ext cx="4663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E8EEF4"/>
                </a:solidFill>
                <a:latin typeface="Calibri"/>
              </a:rPr>
              <a:t>▸  Before you govern AI agents, you need to see them.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EEF4"/>
                </a:solidFill>
                <a:latin typeface="Calibri"/>
              </a:rPr>
              <a:t>▸  Visentra is discovery-first — not another policy console.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EEF4"/>
                </a:solidFill>
                <a:latin typeface="Calibri"/>
              </a:rPr>
              <a:t>▸  Visibility is the missing control plane for AI estates.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EEF4"/>
                </a:solidFill>
                <a:latin typeface="Calibri"/>
              </a:rPr>
              <a:t>▸  Analogs: CrowdStrike for agents · Wiz for AI · Datadog for AI runtime · ServiceNow CMDB for AI assets.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B7C7"/>
                </a:solidFill>
                <a:latin typeface="Calibri"/>
              </a:rPr>
              <a:t>Visentra  ·  Confidential  ·  GTM &amp; Technical Briefing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8B7C7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B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Cost of AI blindness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8B7C7"/>
                </a:solidFill>
                <a:latin typeface="Calibri"/>
              </a:rPr>
              <a:t>What breaks when you cannot inventory agents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63040"/>
            <a:ext cx="3611880" cy="4206240"/>
          </a:xfrm>
          <a:prstGeom prst="roundRect">
            <a:avLst/>
          </a:prstGeom>
          <a:solidFill>
            <a:srgbClr val="16324C"/>
          </a:solidFill>
          <a:ln>
            <a:solidFill>
              <a:srgbClr val="1E4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B8B0"/>
                </a:solidFill>
                <a:latin typeface="Calibri"/>
              </a:rPr>
              <a:t>SECURITY &amp; RISK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3337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E8EEF4"/>
                </a:solidFill>
                <a:latin typeface="Calibri"/>
              </a:rPr>
              <a:t>▸  Ownerless / unmanaged agents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EEF4"/>
                </a:solidFill>
                <a:latin typeface="Calibri"/>
              </a:rPr>
              <a:t>▸  Over-permissioned identities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EEF4"/>
                </a:solidFill>
                <a:latin typeface="Calibri"/>
              </a:rPr>
              <a:t>▸  PII/PHI access without attribution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EEF4"/>
                </a:solidFill>
                <a:latin typeface="Calibri"/>
              </a:rPr>
              <a:t>▸  Local LLM &amp; IDE shadow paths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463040"/>
            <a:ext cx="3611880" cy="4206240"/>
          </a:xfrm>
          <a:prstGeom prst="roundRect">
            <a:avLst/>
          </a:prstGeom>
          <a:solidFill>
            <a:srgbClr val="16324C"/>
          </a:solidFill>
          <a:ln>
            <a:solidFill>
              <a:srgbClr val="1E4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6002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B8B0"/>
                </a:solidFill>
                <a:latin typeface="Calibri"/>
              </a:rPr>
              <a:t>OPERATIONS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1965960"/>
            <a:ext cx="3337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E8EEF4"/>
                </a:solidFill>
                <a:latin typeface="Calibri"/>
              </a:rPr>
              <a:t>▸  Config drift &amp; disappeared agents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EEF4"/>
                </a:solidFill>
                <a:latin typeface="Calibri"/>
              </a:rPr>
              <a:t>▸  No blast-radius view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EEF4"/>
                </a:solidFill>
                <a:latin typeface="Calibri"/>
              </a:rPr>
              <a:t>▸  Blind coverage zones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EEF4"/>
                </a:solidFill>
                <a:latin typeface="Calibri"/>
              </a:rPr>
              <a:t>▸  No single evidence trail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463040"/>
            <a:ext cx="3611880" cy="4206240"/>
          </a:xfrm>
          <a:prstGeom prst="roundRect">
            <a:avLst/>
          </a:prstGeom>
          <a:solidFill>
            <a:srgbClr val="16324C"/>
          </a:solidFill>
          <a:ln>
            <a:solidFill>
              <a:srgbClr val="1E4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6002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B8B0"/>
                </a:solidFill>
                <a:latin typeface="Calibri"/>
              </a:rPr>
              <a:t>COMPLIANCE / AUDIT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1965960"/>
            <a:ext cx="3337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E8EEF4"/>
                </a:solidFill>
                <a:latin typeface="Calibri"/>
              </a:rPr>
              <a:t>▸  No AI BOM / composition export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EEF4"/>
                </a:solidFill>
                <a:latin typeface="Calibri"/>
              </a:rPr>
              <a:t>▸  Weak ownership evidence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EEF4"/>
                </a:solidFill>
                <a:latin typeface="Calibri"/>
              </a:rPr>
              <a:t>▸  Cannot map NIST AI RMF fields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EEF4"/>
                </a:solidFill>
                <a:latin typeface="Calibri"/>
              </a:rPr>
              <a:t>▸  Snapshot history missing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B7C7"/>
                </a:solidFill>
                <a:latin typeface="Calibri"/>
              </a:rPr>
              <a:t>Visentra  ·  Confidential  ·  GTM &amp; Technical Briefing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8B7C7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B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Positioning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8B7C7"/>
                </a:solidFill>
                <a:latin typeface="Calibri"/>
              </a:rPr>
              <a:t>Category creation with a sharp boundary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B8B0"/>
                </a:solidFill>
                <a:latin typeface="Calibri"/>
              </a:rPr>
              <a:t>Visentra is the Enterprise AI Agent Discovery &amp; Visibility Platform.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E8EEF4"/>
                </a:solidFill>
                <a:latin typeface="Calibri"/>
              </a:rPr>
              <a:t>▸  Category: AI Asset Discovery &amp; Visibility (Stage 1)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8EEF4"/>
                </a:solidFill>
                <a:latin typeface="Calibri"/>
              </a:rPr>
              <a:t>▸  Not: enforcement, approve/deny, quarantine, or remediation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8EEF4"/>
                </a:solidFill>
                <a:latin typeface="Calibri"/>
              </a:rPr>
              <a:t>▸  Job to be done: continuous inventory + topology + composition of every AI agent and dependency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8EEF4"/>
                </a:solidFill>
                <a:latin typeface="Calibri"/>
              </a:rPr>
              <a:t>▸  Proof style: evidence-backed (confidence, provenance, first/last seen)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8EEF4"/>
                </a:solidFill>
                <a:latin typeface="Calibri"/>
              </a:rPr>
              <a:t>▸  Delivery: agentless — no Visentra endpoint client required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920240"/>
            <a:ext cx="5029200" cy="3840480"/>
          </a:xfrm>
          <a:prstGeom prst="roundRect">
            <a:avLst/>
          </a:prstGeom>
          <a:solidFill>
            <a:srgbClr val="16324C"/>
          </a:solidFill>
          <a:ln>
            <a:solidFill>
              <a:srgbClr val="1E4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057400"/>
            <a:ext cx="4709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B8B0"/>
                </a:solidFill>
                <a:latin typeface="Calibri"/>
              </a:rPr>
              <a:t>ONE-LINER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42316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E8EEF4"/>
                </a:solidFill>
                <a:latin typeface="Calibri"/>
              </a:rPr>
              <a:t>▸  A high-trust command center for inventory, topology, usage analytics, discovery events, and enterprise search across the AI estate.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EEF4"/>
                </a:solidFill>
                <a:latin typeface="Calibri"/>
              </a:rPr>
              <a:t>▸  Tagline: Know every agent, model, edge, and runtime in motion.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B7C7"/>
                </a:solidFill>
                <a:latin typeface="Calibri"/>
              </a:rPr>
              <a:t>Visentra  ·  Confidential  ·  GTM &amp; Technical Briefing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8B7C7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B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Ideal customer profile &amp; personas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8B7C7"/>
                </a:solidFill>
                <a:latin typeface="Calibri"/>
              </a:rPr>
              <a:t>Who buys, who champions, who uses daily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3749039" cy="4754880"/>
          </a:xfrm>
          <a:prstGeom prst="roundRect">
            <a:avLst/>
          </a:prstGeom>
          <a:solidFill>
            <a:srgbClr val="16324C"/>
          </a:solidFill>
          <a:ln>
            <a:solidFill>
              <a:srgbClr val="1E4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342899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B8B0"/>
                </a:solidFill>
                <a:latin typeface="Calibri"/>
              </a:rPr>
              <a:t>ICP (LAND)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347471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E8EEF4"/>
                </a:solidFill>
                <a:latin typeface="Calibri"/>
              </a:rPr>
              <a:t>▸  Mid-to-large enterprises adopting copilots, custom agents, and cloud AI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EEF4"/>
                </a:solidFill>
                <a:latin typeface="Calibri"/>
              </a:rPr>
              <a:t>▸  Azure-forward security/platform orgs (BYOC fits)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EEF4"/>
                </a:solidFill>
                <a:latin typeface="Calibri"/>
              </a:rPr>
              <a:t>▸  Pain: Shadow AI + unknown MCP/tools + board questions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EEF4"/>
                </a:solidFill>
                <a:latin typeface="Calibri"/>
              </a:rPr>
              <a:t>▸  Trigger: AI governance kickoff, M365 Copilot rollout, AppSec AI review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280160"/>
            <a:ext cx="3749039" cy="4754880"/>
          </a:xfrm>
          <a:prstGeom prst="roundRect">
            <a:avLst/>
          </a:prstGeom>
          <a:solidFill>
            <a:srgbClr val="16324C"/>
          </a:solidFill>
          <a:ln>
            <a:solidFill>
              <a:srgbClr val="1E4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417320"/>
            <a:ext cx="342899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B8B0"/>
                </a:solidFill>
                <a:latin typeface="Calibri"/>
              </a:rPr>
              <a:t>BUYERS / CHAMPIONS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783080"/>
            <a:ext cx="347471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E8EEF4"/>
                </a:solidFill>
                <a:latin typeface="Calibri"/>
              </a:rPr>
              <a:t>▸  CISO — exposure, coverage, board reporting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EEF4"/>
                </a:solidFill>
                <a:latin typeface="Calibri"/>
              </a:rPr>
              <a:t>▸  SecOps — investigate unknown agents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EEF4"/>
                </a:solidFill>
                <a:latin typeface="Calibri"/>
              </a:rPr>
              <a:t>▸  Platform Eng — connector coverage &amp; ops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EEF4"/>
                </a:solidFill>
                <a:latin typeface="Calibri"/>
              </a:rPr>
              <a:t>▸  AI Platform Eng — models, frameworks, MCP, usage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EEF4"/>
                </a:solidFill>
                <a:latin typeface="Calibri"/>
              </a:rPr>
              <a:t>▸  Auditor — evidence, snapshots, exports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280160"/>
            <a:ext cx="3566160" cy="4754880"/>
          </a:xfrm>
          <a:prstGeom prst="roundRect">
            <a:avLst/>
          </a:prstGeom>
          <a:solidFill>
            <a:srgbClr val="16324C"/>
          </a:solidFill>
          <a:ln>
            <a:solidFill>
              <a:srgbClr val="1E4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41732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B8B0"/>
                </a:solidFill>
                <a:latin typeface="Calibri"/>
              </a:rPr>
              <a:t>ECONOMIC OUTCOME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178308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E8EEF4"/>
                </a:solidFill>
                <a:latin typeface="Calibri"/>
              </a:rPr>
              <a:t>▸  Reduce unknown AI attack surface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EEF4"/>
                </a:solidFill>
                <a:latin typeface="Calibri"/>
              </a:rPr>
              <a:t>▸  Accelerate AI governance readiness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EEF4"/>
                </a:solidFill>
                <a:latin typeface="Calibri"/>
              </a:rPr>
              <a:t>▸  Replace spreadsheet inventories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EEF4"/>
                </a:solidFill>
                <a:latin typeface="Calibri"/>
              </a:rPr>
              <a:t>▸  Feed future policy/SIEM/CMDB stages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B7C7"/>
                </a:solidFill>
                <a:latin typeface="Calibri"/>
              </a:rPr>
              <a:t>Visentra  ·  Confidential  ·  GTM &amp; Technical Briefing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8B7C7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B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Value pillars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8B7C7"/>
                </a:solidFill>
                <a:latin typeface="Calibri"/>
              </a:rPr>
              <a:t>Four promises that hold across every persona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486400" cy="2011680"/>
          </a:xfrm>
          <a:prstGeom prst="roundRect">
            <a:avLst/>
          </a:prstGeom>
          <a:solidFill>
            <a:srgbClr val="16324C"/>
          </a:solidFill>
          <a:ln>
            <a:solidFill>
              <a:srgbClr val="1E4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B8B0"/>
                </a:solidFill>
                <a:latin typeface="Calibri"/>
              </a:rPr>
              <a:t>DISCOVER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8EEF4"/>
                </a:solidFill>
                <a:latin typeface="Calibri"/>
              </a:rPr>
              <a:t>Agentless collectors across cloud, K8s, git, CI, EDR, SaaS, identity, MCP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486400" cy="2011680"/>
          </a:xfrm>
          <a:prstGeom prst="roundRect">
            <a:avLst/>
          </a:prstGeom>
          <a:solidFill>
            <a:srgbClr val="16324C"/>
          </a:solidFill>
          <a:ln>
            <a:solidFill>
              <a:srgbClr val="1E4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9164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B8B0"/>
                </a:solidFill>
                <a:latin typeface="Calibri"/>
              </a:rPr>
              <a:t>INVENTORY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28600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8EEF4"/>
                </a:solidFill>
                <a:latin typeface="Calibri"/>
              </a:rPr>
              <a:t>Evidence-classed assets: confirmed vs candidate, ownership, access, data class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657600"/>
            <a:ext cx="5486400" cy="2011680"/>
          </a:xfrm>
          <a:prstGeom prst="roundRect">
            <a:avLst/>
          </a:prstGeom>
          <a:solidFill>
            <a:srgbClr val="16324C"/>
          </a:solidFill>
          <a:ln>
            <a:solidFill>
              <a:srgbClr val="1E4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97764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B8B0"/>
                </a:solidFill>
                <a:latin typeface="Calibri"/>
              </a:rPr>
              <a:t>RELATE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7200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8EEF4"/>
                </a:solidFill>
                <a:latin typeface="Calibri"/>
              </a:rPr>
              <a:t>Graph-native mesh — agents ↔ models ↔ tools ↔ identity ↔ apps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657600"/>
            <a:ext cx="5486400" cy="2011680"/>
          </a:xfrm>
          <a:prstGeom prst="roundRect">
            <a:avLst/>
          </a:prstGeom>
          <a:solidFill>
            <a:srgbClr val="16324C"/>
          </a:solidFill>
          <a:ln>
            <a:solidFill>
              <a:srgbClr val="1E4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97764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B8B0"/>
                </a:solidFill>
                <a:latin typeface="Calibri"/>
              </a:rPr>
              <a:t>COMPOSE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57200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8EEF4"/>
                </a:solidFill>
                <a:latin typeface="Calibri"/>
              </a:rPr>
              <a:t>Full AI BOM — 50 fields, 7 categories, CycloneDX export, enrichment gaps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B7C7"/>
                </a:solidFill>
                <a:latin typeface="Calibri"/>
              </a:rPr>
              <a:t>Visentra  ·  Confidential  ·  GTM &amp; Technical Briefing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8B7C7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B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Competitive frame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8B7C7"/>
                </a:solidFill>
                <a:latin typeface="Calibri"/>
              </a:rPr>
              <a:t>Own the discovery layer; partner or sequence into enforcement later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B8B0"/>
                </a:solidFill>
                <a:latin typeface="Calibri"/>
              </a:rPr>
              <a:t>Player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59" y="12801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B8B0"/>
                </a:solidFill>
                <a:latin typeface="Calibri"/>
              </a:rPr>
              <a:t>Strength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999" y="12801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B8B0"/>
                </a:solidFill>
                <a:latin typeface="Calibri"/>
              </a:rPr>
              <a:t>Gap Visentra fills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45920"/>
            <a:ext cx="11155680" cy="18288"/>
          </a:xfrm>
          <a:prstGeom prst="rect">
            <a:avLst/>
          </a:prstGeom>
          <a:solidFill>
            <a:srgbClr val="0E8A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8288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Visentra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59" y="18288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EF4"/>
                </a:solidFill>
                <a:latin typeface="Calibri"/>
              </a:rPr>
              <a:t>Agent discovery + visibility + AI BOM + graph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0999" y="18288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EF4"/>
                </a:solidFill>
                <a:latin typeface="Calibri"/>
              </a:rPr>
              <a:t>No Visentra agent; visibility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60604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CSPM / CNAPP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59" y="260604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EF4"/>
                </a:solidFill>
                <a:latin typeface="Calibri"/>
              </a:rPr>
              <a:t>Cloud misconfig &amp; workload risk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0999" y="260604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EF4"/>
                </a:solidFill>
                <a:latin typeface="Calibri"/>
              </a:rPr>
              <a:t>Weak AI-agent &amp; MCP composition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38328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EDR / XDR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59" y="338328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EF4"/>
                </a:solidFill>
                <a:latin typeface="Calibri"/>
              </a:rPr>
              <a:t>Endpoint process &amp; device signals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0999" y="338328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EF4"/>
                </a:solidFill>
                <a:latin typeface="Calibri"/>
              </a:rPr>
              <a:t>Not an AI estate CMDB or BOM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16052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AI gateways / LLM firewalls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59" y="416052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EF4"/>
                </a:solidFill>
                <a:latin typeface="Calibri"/>
              </a:rPr>
              <a:t>Runtime prompt/policy enforcement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0999" y="416052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EF4"/>
                </a:solidFill>
                <a:latin typeface="Calibri"/>
              </a:rPr>
              <a:t>Assume you already know the agents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93776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CMDB / ITSM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59" y="493776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EF4"/>
                </a:solidFill>
                <a:latin typeface="Calibri"/>
              </a:rPr>
              <a:t>Generic asset records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0999" y="493776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EF4"/>
                </a:solidFill>
                <a:latin typeface="Calibri"/>
              </a:rPr>
              <a:t>Not AI-native relationships or BOM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B7C7"/>
                </a:solidFill>
                <a:latin typeface="Calibri"/>
              </a:rPr>
              <a:t>Visentra  ·  Confidential  ·  GTM &amp; Technical Briefing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8B7C7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B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Product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8B7C7"/>
                </a:solidFill>
                <a:latin typeface="Calibri"/>
              </a:rPr>
              <a:t>Module IA — what buyers see in the command center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3657600" cy="2011680"/>
          </a:xfrm>
          <a:prstGeom prst="roundRect">
            <a:avLst/>
          </a:prstGeom>
          <a:solidFill>
            <a:srgbClr val="16324C"/>
          </a:solidFill>
          <a:ln>
            <a:solidFill>
              <a:srgbClr val="1E4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B8B0"/>
                </a:solidFill>
                <a:latin typeface="Calibri"/>
              </a:rPr>
              <a:t>DASHBOARDS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7452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E8EEF4"/>
                </a:solidFill>
                <a:latin typeface="Calibri"/>
              </a:rPr>
              <a:t>▸  Executive · Mesh · Operations · Shadow AI · Discovery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371600"/>
            <a:ext cx="3657600" cy="2011680"/>
          </a:xfrm>
          <a:prstGeom prst="roundRect">
            <a:avLst/>
          </a:prstGeom>
          <a:solidFill>
            <a:srgbClr val="16324C"/>
          </a:solidFill>
          <a:ln>
            <a:solidFill>
              <a:srgbClr val="1E4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50876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B8B0"/>
                </a:solidFill>
                <a:latin typeface="Calibri"/>
              </a:rPr>
              <a:t>INVENTORY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187452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E8EEF4"/>
                </a:solidFill>
                <a:latin typeface="Calibri"/>
              </a:rPr>
              <a:t>▸  Asset inventory · Relationship explorer · Topology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371600"/>
            <a:ext cx="3657600" cy="2011680"/>
          </a:xfrm>
          <a:prstGeom prst="roundRect">
            <a:avLst/>
          </a:prstGeom>
          <a:solidFill>
            <a:srgbClr val="16324C"/>
          </a:solidFill>
          <a:ln>
            <a:solidFill>
              <a:srgbClr val="1E4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50876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B8B0"/>
                </a:solidFill>
                <a:latin typeface="Calibri"/>
              </a:rPr>
              <a:t>AI BOM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187452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E8EEF4"/>
                </a:solidFill>
                <a:latin typeface="Calibri"/>
              </a:rPr>
              <a:t>▸  Systems · Field matrix · Enrich · Snapshots · Export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657600"/>
            <a:ext cx="3657600" cy="2011680"/>
          </a:xfrm>
          <a:prstGeom prst="roundRect">
            <a:avLst/>
          </a:prstGeom>
          <a:solidFill>
            <a:srgbClr val="16324C"/>
          </a:solidFill>
          <a:ln>
            <a:solidFill>
              <a:srgbClr val="1E4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79476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B8B0"/>
                </a:solidFill>
                <a:latin typeface="Calibri"/>
              </a:rPr>
              <a:t>USAGE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16052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E8EEF4"/>
                </a:solidFill>
                <a:latin typeface="Calibri"/>
              </a:rPr>
              <a:t>▸  Models · Frameworks · Cloud · IDE analytics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3657600"/>
            <a:ext cx="3657600" cy="2011680"/>
          </a:xfrm>
          <a:prstGeom prst="roundRect">
            <a:avLst/>
          </a:prstGeom>
          <a:solidFill>
            <a:srgbClr val="16324C"/>
          </a:solidFill>
          <a:ln>
            <a:solidFill>
              <a:srgbClr val="1E4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379476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B8B0"/>
                </a:solidFill>
                <a:latin typeface="Calibri"/>
              </a:rPr>
              <a:t>ACTIVITY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416052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E8EEF4"/>
                </a:solidFill>
                <a:latin typeface="Calibri"/>
              </a:rPr>
              <a:t>▸  Timeline · Coverage map · Changes · Events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3657600"/>
            <a:ext cx="3657600" cy="2011680"/>
          </a:xfrm>
          <a:prstGeom prst="roundRect">
            <a:avLst/>
          </a:prstGeom>
          <a:solidFill>
            <a:srgbClr val="16324C"/>
          </a:solidFill>
          <a:ln>
            <a:solidFill>
              <a:srgbClr val="1E4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379476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B8B0"/>
                </a:solidFill>
                <a:latin typeface="Calibri"/>
              </a:rPr>
              <a:t>SETTINGS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416052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E8EEF4"/>
                </a:solidFill>
                <a:latin typeface="Calibri"/>
              </a:rPr>
              <a:t>▸  20 connectors · IAM/SSO · Audit log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B7C7"/>
                </a:solidFill>
                <a:latin typeface="Calibri"/>
              </a:rPr>
              <a:t>Visentra  ·  Confidential  ·  GTM &amp; Technical Briefing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8B7C7"/>
                </a:solidFill>
                <a:latin typeface="Calibr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B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Technical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8B7C7"/>
                </a:solidFill>
                <a:latin typeface="Calibri"/>
              </a:rPr>
              <a:t>Greenfield stack built for continuous 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5669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E8EEF4"/>
                </a:solidFill>
                <a:latin typeface="Calibri"/>
              </a:rPr>
              <a:t>▸  Web: React 18 + TypeScript + Vite + React Flow topology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8EEF4"/>
                </a:solidFill>
                <a:latin typeface="Calibri"/>
              </a:rPr>
              <a:t>▸  API: Node 20 Express — inventory, BOM, auth, connectors, mesh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8EEF4"/>
                </a:solidFill>
                <a:latin typeface="Calibri"/>
              </a:rPr>
              <a:t>▸  Discovery worker: agentless collectors via API credentials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8EEF4"/>
                </a:solidFill>
                <a:latin typeface="Calibri"/>
              </a:rPr>
              <a:t>▸  Postgres: system of record for agents, enrichments, snapshots, audit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8EEF4"/>
                </a:solidFill>
                <a:latin typeface="Calibri"/>
              </a:rPr>
              <a:t>▸  Neo4j: relationship / topology graph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8EEF4"/>
                </a:solidFill>
                <a:latin typeface="Calibri"/>
              </a:rPr>
              <a:t>▸  Auth: local admin + OIDC (Entra, Okta, Auth0, Google, Ping, Keycloak…)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8EEF4"/>
                </a:solidFill>
                <a:latin typeface="Calibri"/>
              </a:rPr>
              <a:t>▸  Realtime: graph SSE live stream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8EEF4"/>
                </a:solidFill>
                <a:latin typeface="Calibri"/>
              </a:rPr>
              <a:t>▸  RBAC: platform_admin · operator · viewer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371600"/>
            <a:ext cx="5029200" cy="4572000"/>
          </a:xfrm>
          <a:prstGeom prst="roundRect">
            <a:avLst/>
          </a:prstGeom>
          <a:solidFill>
            <a:srgbClr val="16324C"/>
          </a:solidFill>
          <a:ln>
            <a:solidFill>
              <a:srgbClr val="1E4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508760"/>
            <a:ext cx="4709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B8B0"/>
                </a:solidFill>
                <a:latin typeface="Calibri"/>
              </a:rPr>
              <a:t>DATA PLANE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187452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E8EEF4"/>
                </a:solidFill>
                <a:latin typeface="Calibri"/>
              </a:rPr>
              <a:t>▸  Production: Azure Flexible Server + Key Vault + Neo4j persistence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EEF4"/>
                </a:solidFill>
                <a:latin typeface="Calibri"/>
              </a:rPr>
              <a:t>▸  Deploy: Azure Container Apps (BYOC into customer subscription)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EEF4"/>
                </a:solidFill>
                <a:latin typeface="Calibri"/>
              </a:rPr>
              <a:t>▸  Secrets: encrypted connector credentials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EEF4"/>
                </a:solidFill>
                <a:latin typeface="Calibri"/>
              </a:rPr>
              <a:t>▸  Search: enterprise facets across agents, models, tools, MCP, evidence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EEF4"/>
                </a:solidFill>
                <a:latin typeface="Calibri"/>
              </a:rPr>
              <a:t>▸  Exports: CSV/JSON inventory · Visentra AI BOM JSON · CycloneDX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B7C7"/>
                </a:solidFill>
                <a:latin typeface="Calibri"/>
              </a:rPr>
              <a:t>Visentra  ·  Confidential  ·  GTM &amp; Technical Briefing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8B7C7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B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Discovery &amp; connectors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8B7C7"/>
                </a:solidFill>
                <a:latin typeface="Calibri"/>
              </a:rPr>
              <a:t>Agentless coverage across the AI estate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B8B0"/>
                </a:solidFill>
                <a:latin typeface="Calibri"/>
              </a:rPr>
              <a:t>No Visentra client required on endpoints — reuse existing EDR and cloud APIs.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828800"/>
            <a:ext cx="2788920" cy="4023360"/>
          </a:xfrm>
          <a:prstGeom prst="roundRect">
            <a:avLst/>
          </a:prstGeom>
          <a:solidFill>
            <a:srgbClr val="16324C"/>
          </a:solidFill>
          <a:ln>
            <a:solidFill>
              <a:srgbClr val="1E4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9659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B8B0"/>
                </a:solidFill>
                <a:latin typeface="Calibri"/>
              </a:rPr>
              <a:t>CLOUD &amp; COMPUTE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25146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E8EEF4"/>
                </a:solidFill>
                <a:latin typeface="Calibri"/>
              </a:rPr>
              <a:t>▸  Azure · AWS · GCP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EEF4"/>
                </a:solidFill>
                <a:latin typeface="Calibri"/>
              </a:rPr>
              <a:t>▸  Kubernetes API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EEF4"/>
                </a:solidFill>
                <a:latin typeface="Calibri"/>
              </a:rPr>
              <a:t>▸  CI: Jenkins, GHA, GitLab CI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828800"/>
            <a:ext cx="2788920" cy="4023360"/>
          </a:xfrm>
          <a:prstGeom prst="roundRect">
            <a:avLst/>
          </a:prstGeom>
          <a:solidFill>
            <a:srgbClr val="16324C"/>
          </a:solidFill>
          <a:ln>
            <a:solidFill>
              <a:srgbClr val="1E4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9659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B8B0"/>
                </a:solidFill>
                <a:latin typeface="Calibri"/>
              </a:rPr>
              <a:t>CODE &amp; IDENTITY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331720"/>
            <a:ext cx="25146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E8EEF4"/>
                </a:solidFill>
                <a:latin typeface="Calibri"/>
              </a:rPr>
              <a:t>▸  GitHub · GitLab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EEF4"/>
                </a:solidFill>
                <a:latin typeface="Calibri"/>
              </a:rPr>
              <a:t>▸  Entra ID · K8s identity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EEF4"/>
                </a:solidFill>
                <a:latin typeface="Calibri"/>
              </a:rPr>
              <a:t>▸  Evidence-backed ownership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828800"/>
            <a:ext cx="2788920" cy="4023360"/>
          </a:xfrm>
          <a:prstGeom prst="roundRect">
            <a:avLst/>
          </a:prstGeom>
          <a:solidFill>
            <a:srgbClr val="16324C"/>
          </a:solidFill>
          <a:ln>
            <a:solidFill>
              <a:srgbClr val="1E4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9659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B8B0"/>
                </a:solidFill>
                <a:latin typeface="Calibri"/>
              </a:rPr>
              <a:t>ENDPOINT &amp; SAAS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331720"/>
            <a:ext cx="25146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E8EEF4"/>
                </a:solidFill>
                <a:latin typeface="Calibri"/>
              </a:rPr>
              <a:t>▸  CrowdStrike · Defender · Intune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EEF4"/>
                </a:solidFill>
                <a:latin typeface="Calibri"/>
              </a:rPr>
              <a:t>▸  Cortex · Netskope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EEF4"/>
                </a:solidFill>
                <a:latin typeface="Calibri"/>
              </a:rPr>
              <a:t>▸  M365 Copilot · Salesforce · ServiceNow · OpenAI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9720" y="1828800"/>
            <a:ext cx="2788920" cy="4023360"/>
          </a:xfrm>
          <a:prstGeom prst="roundRect">
            <a:avLst/>
          </a:prstGeom>
          <a:solidFill>
            <a:srgbClr val="16324C"/>
          </a:solidFill>
          <a:ln>
            <a:solidFill>
              <a:srgbClr val="1E4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72600" y="19659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B8B0"/>
                </a:solidFill>
                <a:latin typeface="Calibri"/>
              </a:rPr>
              <a:t>LOCAL / AGENTIC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2331720"/>
            <a:ext cx="25146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E8EEF4"/>
                </a:solidFill>
                <a:latin typeface="Calibri"/>
              </a:rPr>
              <a:t>▸  IDE filesystem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EEF4"/>
                </a:solidFill>
                <a:latin typeface="Calibri"/>
              </a:rPr>
              <a:t>▸  Process signals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EEF4"/>
                </a:solidFill>
                <a:latin typeface="Calibri"/>
              </a:rPr>
              <a:t>▸  MCP connections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B7C7"/>
                </a:solidFill>
                <a:latin typeface="Calibri"/>
              </a:rPr>
              <a:t>Visentra  ·  Confidential  ·  GTM &amp; Technical Briefing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8B7C7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B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Shadow AI, Mesh &amp;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8B7C7"/>
                </a:solidFill>
                <a:latin typeface="Calibri"/>
              </a:rPr>
              <a:t>Turn discovery into an investigation workbench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25880"/>
            <a:ext cx="3749039" cy="4663440"/>
          </a:xfrm>
          <a:prstGeom prst="roundRect">
            <a:avLst/>
          </a:prstGeom>
          <a:solidFill>
            <a:srgbClr val="16324C"/>
          </a:solidFill>
          <a:ln>
            <a:solidFill>
              <a:srgbClr val="1E4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342899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B8B0"/>
                </a:solidFill>
                <a:latin typeface="Calibri"/>
              </a:rPr>
              <a:t>SHADOW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28800"/>
            <a:ext cx="347471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E8EEF4"/>
                </a:solidFill>
                <a:latin typeface="Calibri"/>
              </a:rPr>
              <a:t>▸  Classify unmanaged / unsanctioned AI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EEF4"/>
                </a:solidFill>
                <a:latin typeface="Calibri"/>
              </a:rPr>
              <a:t>▸  Ownerless, consumer SaaS, local LLM/IDE tags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EEF4"/>
                </a:solidFill>
                <a:latin typeface="Calibri"/>
              </a:rPr>
              <a:t>▸  Visibility only — does not block or remediate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EEF4"/>
                </a:solidFill>
                <a:latin typeface="Calibri"/>
              </a:rPr>
              <a:t>▸  Feeds Operations &amp; Executive KPIs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25880"/>
            <a:ext cx="3749039" cy="4663440"/>
          </a:xfrm>
          <a:prstGeom prst="roundRect">
            <a:avLst/>
          </a:prstGeom>
          <a:solidFill>
            <a:srgbClr val="16324C"/>
          </a:solidFill>
          <a:ln>
            <a:solidFill>
              <a:srgbClr val="1E4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463040"/>
            <a:ext cx="342899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B8B0"/>
                </a:solidFill>
                <a:latin typeface="Calibri"/>
              </a:rPr>
              <a:t>GLOBAL AGENT MESH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828800"/>
            <a:ext cx="347471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E8EEF4"/>
                </a:solidFill>
                <a:latin typeface="Calibri"/>
              </a:rPr>
              <a:t>▸  Estate view by environment lanes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EEF4"/>
                </a:solidFill>
                <a:latin typeface="Calibri"/>
              </a:rPr>
              <a:t>▸  Active · Flagged · Inactive · Shadow · Device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EEF4"/>
                </a:solidFill>
                <a:latin typeface="Calibri"/>
              </a:rPr>
              <a:t>▸  Fast path from heat to investigation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325880"/>
            <a:ext cx="3566160" cy="4663440"/>
          </a:xfrm>
          <a:prstGeom prst="roundRect">
            <a:avLst/>
          </a:prstGeom>
          <a:solidFill>
            <a:srgbClr val="16324C"/>
          </a:solidFill>
          <a:ln>
            <a:solidFill>
              <a:srgbClr val="1E4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46304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B8B0"/>
                </a:solidFill>
                <a:latin typeface="Calibri"/>
              </a:rPr>
              <a:t>OPERATIONS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1828800"/>
            <a:ext cx="3291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E8EEF4"/>
                </a:solidFill>
                <a:latin typeface="Calibri"/>
              </a:rPr>
              <a:t>▸  Disappeared agents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EEF4"/>
                </a:solidFill>
                <a:latin typeface="Calibri"/>
              </a:rPr>
              <a:t>▸  Owner changes &amp; config drift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EEF4"/>
                </a:solidFill>
                <a:latin typeface="Calibri"/>
              </a:rPr>
              <a:t>▸  Data-class escalations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EEF4"/>
                </a:solidFill>
                <a:latin typeface="Calibri"/>
              </a:rPr>
              <a:t>▸  High blast radius queue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B7C7"/>
                </a:solidFill>
                <a:latin typeface="Calibri"/>
              </a:rPr>
              <a:t>Visentra  ·  Confidential  ·  GTM &amp; Technical Briefing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8B7C7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B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AI BOM — technical differentiator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8B7C7"/>
                </a:solidFill>
                <a:latin typeface="Calibri"/>
              </a:rPr>
              <a:t>Composition is not inventory — Visentra closes the gap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6400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E8EEF4"/>
                </a:solidFill>
                <a:latin typeface="Calibri"/>
              </a:rPr>
              <a:t>▸  Spec: Visentra-AIBOM 1.0.0 — discovery-observed fields + optional enrichment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8EEF4"/>
                </a:solidFill>
                <a:latin typeface="Calibri"/>
              </a:rPr>
              <a:t>▸  50 catalog fields across 7 categories: Models, Data, Software &amp; infra, Tools &amp; MCP, Identity, Governance, Behavioral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8EEF4"/>
                </a:solidFill>
                <a:latin typeface="Calibri"/>
              </a:rPr>
              <a:t>▸  Unknowns stay explicit — never invented; operators attest or enrich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8EEF4"/>
                </a:solidFill>
                <a:latin typeface="Calibri"/>
              </a:rPr>
              <a:t>▸  Per-system completeness scoring + estate field matrix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8EEF4"/>
                </a:solidFill>
                <a:latin typeface="Calibri"/>
              </a:rPr>
              <a:t>▸  Exports: native JSON + CycloneDX; versioned snapshots for audit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8EEF4"/>
                </a:solidFill>
                <a:latin typeface="Calibri"/>
              </a:rPr>
              <a:t>▸  Supports governance programs via compliance field mappings (e.g., NIST AI RMF)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8EEF4"/>
                </a:solidFill>
                <a:latin typeface="Calibri"/>
              </a:rPr>
              <a:t>▸  Separates discovery inventory from composition BOM — right module for buyers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371600"/>
            <a:ext cx="4297680" cy="4572000"/>
          </a:xfrm>
          <a:prstGeom prst="roundRect">
            <a:avLst/>
          </a:prstGeom>
          <a:solidFill>
            <a:srgbClr val="16324C"/>
          </a:solidFill>
          <a:ln>
            <a:solidFill>
              <a:srgbClr val="1E4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0" y="1508760"/>
            <a:ext cx="3977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B8B0"/>
                </a:solidFill>
                <a:latin typeface="Calibri"/>
              </a:rPr>
              <a:t>BUYER TALK 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1874520"/>
            <a:ext cx="40233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E8EEF4"/>
                </a:solidFill>
                <a:latin typeface="Calibri"/>
              </a:rPr>
              <a:t>▸  Inventory = what exists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EEF4"/>
                </a:solidFill>
                <a:latin typeface="Calibri"/>
              </a:rPr>
              <a:t>▸  AI BOM = what it is made of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EEF4"/>
                </a:solidFill>
                <a:latin typeface="Calibri"/>
              </a:rPr>
              <a:t>▸  Gaps = your enrichment backlog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EEF4"/>
                </a:solidFill>
                <a:latin typeface="Calibri"/>
              </a:rPr>
              <a:t>▸  Snapshots = evidence over time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EEF4"/>
                </a:solidFill>
                <a:latin typeface="Calibri"/>
              </a:rPr>
              <a:t>▸  CycloneDX = supply-chain handoff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B7C7"/>
                </a:solidFill>
                <a:latin typeface="Calibri"/>
              </a:rPr>
              <a:t>Visentra  ·  Confidential  ·  GTM &amp; Technical Briefing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8B7C7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B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Security, trust &amp;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8B7C7"/>
                </a:solidFill>
                <a:latin typeface="Calibri"/>
              </a:rPr>
              <a:t>Enterprise posture for technical buyers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25880"/>
            <a:ext cx="5577840" cy="4663440"/>
          </a:xfrm>
          <a:prstGeom prst="roundRect">
            <a:avLst/>
          </a:prstGeom>
          <a:solidFill>
            <a:srgbClr val="16324C"/>
          </a:solidFill>
          <a:ln>
            <a:solidFill>
              <a:srgbClr val="1E4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257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B8B0"/>
                </a:solidFill>
                <a:latin typeface="Calibri"/>
              </a:rPr>
              <a:t>TRUST CONTROLS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28800"/>
            <a:ext cx="5303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E8EEF4"/>
                </a:solidFill>
                <a:latin typeface="Calibri"/>
              </a:rPr>
              <a:t>▸  BYOC on customer Azure subscription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EEF4"/>
                </a:solidFill>
                <a:latin typeface="Calibri"/>
              </a:rPr>
              <a:t>▸  OIDC SSO to major IdPs; JWT sessions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EEF4"/>
                </a:solidFill>
                <a:latin typeface="Calibri"/>
              </a:rPr>
              <a:t>▸  RBAC roles; audit log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EEF4"/>
                </a:solidFill>
                <a:latin typeface="Calibri"/>
              </a:rPr>
              <a:t>▸  Connector secrets encrypted; Key Vault in production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EEF4"/>
                </a:solidFill>
                <a:latin typeface="Calibri"/>
              </a:rPr>
              <a:t>▸  CORS lock; production data-plane mode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EEF4"/>
                </a:solidFill>
                <a:latin typeface="Calibri"/>
              </a:rPr>
              <a:t>▸  Clear product boundary: visibility ≠ enforcement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25880"/>
            <a:ext cx="5303520" cy="4663440"/>
          </a:xfrm>
          <a:prstGeom prst="roundRect">
            <a:avLst/>
          </a:prstGeom>
          <a:solidFill>
            <a:srgbClr val="16324C"/>
          </a:solidFill>
          <a:ln>
            <a:solidFill>
              <a:srgbClr val="1E4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463040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B8B0"/>
                </a:solidFill>
                <a:latin typeface="Calibri"/>
              </a:rPr>
              <a:t>DEPLOY PATHS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828800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E8EEF4"/>
                </a:solidFill>
                <a:latin typeface="Calibri"/>
              </a:rPr>
              <a:t>▸  cloud-deploy one-click → Azure Container Apps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EEF4"/>
                </a:solidFill>
                <a:latin typeface="Calibri"/>
              </a:rPr>
              <a:t>▸  Operator scripts under infra/azure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EEF4"/>
                </a:solidFill>
                <a:latin typeface="Calibri"/>
              </a:rPr>
              <a:t>▸  Local Docker Compose for POV labs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EEF4"/>
                </a:solidFill>
                <a:latin typeface="Calibri"/>
              </a:rPr>
              <a:t>▸  Eval vs production data-plane modes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EEF4"/>
                </a:solidFill>
                <a:latin typeface="Calibri"/>
              </a:rPr>
              <a:t>▸  ACR image builds for web, API, discovery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B7C7"/>
                </a:solidFill>
                <a:latin typeface="Calibri"/>
              </a:rPr>
              <a:t>Visentra  ·  Confidential  ·  GTM &amp; Technical Briefing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8B7C7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B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GTM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8B7C7"/>
                </a:solidFill>
                <a:latin typeface="Calibri"/>
              </a:rPr>
              <a:t>Land with discovery pain; expand into composition &amp; coverage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E8EEF4"/>
                </a:solidFill>
                <a:latin typeface="Calibri"/>
              </a:rPr>
              <a:t>▸  Beachhead: Azure-centric enterprises launching Copilot / custom agents with CISO sponsorship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8EEF4"/>
                </a:solidFill>
                <a:latin typeface="Calibri"/>
              </a:rPr>
              <a:t>▸  Entry wedge: Shadow AI + Coverage Map + Executive overview in a 2-week technical POV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8EEF4"/>
                </a:solidFill>
                <a:latin typeface="Calibri"/>
              </a:rPr>
              <a:t>▸  Land: Connectors for Entra + GitHub + Azure + one EDR; show ownerless &amp; shadow findings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8EEF4"/>
                </a:solidFill>
                <a:latin typeface="Calibri"/>
              </a:rPr>
              <a:t>▸  Expand: Full AI BOM enrichment workshops; CycloneDX to GRC; more SaaS/CI collectors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8EEF4"/>
                </a:solidFill>
                <a:latin typeface="Calibri"/>
              </a:rPr>
              <a:t>▸  Motion: Product-led demo + sales-assisted POV (Platform Eng + SecOps co-owners)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8EEF4"/>
                </a:solidFill>
                <a:latin typeface="Calibri"/>
              </a:rPr>
              <a:t>▸  Partners: MSSPs, Azure SI partners, AI governance consultancies — discovery as Stage 0 of programs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8EEF4"/>
                </a:solidFill>
                <a:latin typeface="Calibri"/>
              </a:rPr>
              <a:t>▸  Content: AI BOM readiness checklist, Shadow AI teardown, “Before you govern” executive brief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B7C7"/>
                </a:solidFill>
                <a:latin typeface="Calibri"/>
              </a:rPr>
              <a:t>Visentra  ·  Confidential  ·  GTM &amp; Technical Briefing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8B7C7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B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Packaging &amp; commercial motion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8B7C7"/>
                </a:solidFill>
                <a:latin typeface="Calibri"/>
              </a:rPr>
              <a:t>Simple Stage-1 offers (pricing TBD — structure first)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3611880" cy="4114800"/>
          </a:xfrm>
          <a:prstGeom prst="roundRect">
            <a:avLst/>
          </a:prstGeom>
          <a:solidFill>
            <a:srgbClr val="16324C"/>
          </a:solidFill>
          <a:ln>
            <a:solidFill>
              <a:srgbClr val="1E4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087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B8B0"/>
                </a:solidFill>
                <a:latin typeface="Calibri"/>
              </a:rPr>
              <a:t>POV / PILOT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20"/>
            <a:ext cx="3337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E8EEF4"/>
                </a:solidFill>
                <a:latin typeface="Calibri"/>
              </a:rPr>
              <a:t>▸  2–4 weeks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EEF4"/>
                </a:solidFill>
                <a:latin typeface="Calibri"/>
              </a:rPr>
              <a:t>▸  Limited connectors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EEF4"/>
                </a:solidFill>
                <a:latin typeface="Calibri"/>
              </a:rPr>
              <a:t>▸  Success = shadow + inventory baseline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EEF4"/>
                </a:solidFill>
                <a:latin typeface="Calibri"/>
              </a:rPr>
              <a:t>▸  Executive readout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371600"/>
            <a:ext cx="3611880" cy="4114800"/>
          </a:xfrm>
          <a:prstGeom prst="roundRect">
            <a:avLst/>
          </a:prstGeom>
          <a:solidFill>
            <a:srgbClr val="16324C"/>
          </a:solidFill>
          <a:ln>
            <a:solidFill>
              <a:srgbClr val="1E4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5087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B8B0"/>
                </a:solidFill>
                <a:latin typeface="Calibri"/>
              </a:rPr>
              <a:t>DISCOVERY STANDARD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1874520"/>
            <a:ext cx="3337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E8EEF4"/>
                </a:solidFill>
                <a:latin typeface="Calibri"/>
              </a:rPr>
              <a:t>▸  Full Stage-1 platform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EEF4"/>
                </a:solidFill>
                <a:latin typeface="Calibri"/>
              </a:rPr>
              <a:t>▸  Core connectors pack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EEF4"/>
                </a:solidFill>
                <a:latin typeface="Calibri"/>
              </a:rPr>
              <a:t>▸  AI BOM + exports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EEF4"/>
                </a:solidFill>
                <a:latin typeface="Calibri"/>
              </a:rPr>
              <a:t>▸  SSO + audit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371600"/>
            <a:ext cx="3611880" cy="4114800"/>
          </a:xfrm>
          <a:prstGeom prst="roundRect">
            <a:avLst/>
          </a:prstGeom>
          <a:solidFill>
            <a:srgbClr val="16324C"/>
          </a:solidFill>
          <a:ln>
            <a:solidFill>
              <a:srgbClr val="1E4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5087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B8B0"/>
                </a:solidFill>
                <a:latin typeface="Calibri"/>
              </a:rPr>
              <a:t>DISCOVERY ESTATE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1874520"/>
            <a:ext cx="3337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E8EEF4"/>
                </a:solidFill>
                <a:latin typeface="Calibri"/>
              </a:rPr>
              <a:t>▸  Expanded collectors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EEF4"/>
                </a:solidFill>
                <a:latin typeface="Calibri"/>
              </a:rPr>
              <a:t>▸  Multi-team RBAC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EEF4"/>
                </a:solidFill>
                <a:latin typeface="Calibri"/>
              </a:rPr>
              <a:t>▸  Snapshot retention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EEF4"/>
                </a:solidFill>
                <a:latin typeface="Calibri"/>
              </a:rPr>
              <a:t>▸  Partner-assisted coverage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760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B7C7"/>
                </a:solidFill>
                <a:latin typeface="Calibri"/>
              </a:rPr>
              <a:t>Note: No public price list in product docs — set list/discount with finance; sell outcomes not SKUs first.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B7C7"/>
                </a:solidFill>
                <a:latin typeface="Calibri"/>
              </a:rPr>
              <a:t>Visentra  ·  Confidential  ·  GTM &amp; Technical Briefing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8B7C7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B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Messaging house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8B7C7"/>
                </a:solidFill>
                <a:latin typeface="Calibri"/>
              </a:rPr>
              <a:t>Keep every deck, demo, and RFP answer on-message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B8B0"/>
                </a:solidFill>
                <a:latin typeface="Calibri"/>
              </a:rPr>
              <a:t>Brand promise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Know every agent, model, edge, and runtime in motion.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402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B8B0"/>
                </a:solidFill>
                <a:latin typeface="Calibri"/>
              </a:rPr>
              <a:t>CISO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2240280"/>
            <a:ext cx="9418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EF4"/>
                </a:solidFill>
                <a:latin typeface="Calibri"/>
              </a:rPr>
              <a:t>Board-ready visibility into Shadow AI, ownership, and coverage — before controls.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260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B8B0"/>
                </a:solidFill>
                <a:latin typeface="Calibri"/>
              </a:rPr>
              <a:t>SecOps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2926080"/>
            <a:ext cx="9418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EF4"/>
                </a:solidFill>
                <a:latin typeface="Calibri"/>
              </a:rPr>
              <a:t>Investigate unknown agents with evidence, topology, and blast radius.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6118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B8B0"/>
                </a:solidFill>
                <a:latin typeface="Calibri"/>
              </a:rPr>
              <a:t>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3611880"/>
            <a:ext cx="9418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EF4"/>
                </a:solidFill>
                <a:latin typeface="Calibri"/>
              </a:rPr>
              <a:t>Agentless connectors and coverage map — operate discovery like production infra.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2976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B8B0"/>
                </a:solidFill>
                <a:latin typeface="Calibri"/>
              </a:rPr>
              <a:t>AI Eng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4297680"/>
            <a:ext cx="9418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EF4"/>
                </a:solidFill>
                <a:latin typeface="Calibri"/>
              </a:rPr>
              <a:t>Models, frameworks, MCP, and usage — composition you can export.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9834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B8B0"/>
                </a:solidFill>
                <a:latin typeface="Calibri"/>
              </a:rPr>
              <a:t>Audit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4983480"/>
            <a:ext cx="9418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EF4"/>
                </a:solidFill>
                <a:latin typeface="Calibri"/>
              </a:rPr>
              <a:t>AI BOM snapshots and CycloneDX — explicit gaps, not invented fields.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B7C7"/>
                </a:solidFill>
                <a:latin typeface="Calibri"/>
              </a:rPr>
              <a:t>Visentra  ·  Confidential  ·  GTM &amp; Technical Briefing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8B7C7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B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Demo narrative (30–40 min)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8B7C7"/>
                </a:solidFill>
                <a:latin typeface="Calibri"/>
              </a:rPr>
              <a:t>Technical POV path that sells the category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B8B0"/>
                </a:solidFill>
                <a:latin typeface="Calibri"/>
              </a:rPr>
              <a:t>1. Executive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23444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EF4"/>
                </a:solidFill>
                <a:latin typeface="Calibri"/>
              </a:rPr>
              <a:t>Discovered / Shadow / Ownerless / confidence — leadership question answered in 60s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745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B8B0"/>
                </a:solidFill>
                <a:latin typeface="Calibri"/>
              </a:rPr>
              <a:t>2. Coverage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187452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EF4"/>
                </a:solidFill>
                <a:latin typeface="Calibri"/>
              </a:rPr>
              <a:t>Show blind vs covered collectors — why gaps exist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146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B8B0"/>
                </a:solidFill>
                <a:latin typeface="Calibri"/>
              </a:rPr>
              <a:t>3. Shadow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51460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EF4"/>
                </a:solidFill>
                <a:latin typeface="Calibri"/>
              </a:rPr>
              <a:t>Ownerless &amp; unmanaged findings — visibility-only boundary stated clearly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154679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B8B0"/>
                </a:solidFill>
                <a:latin typeface="Calibri"/>
              </a:rPr>
              <a:t>4. Inventory → Detail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154679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EF4"/>
                </a:solidFill>
                <a:latin typeface="Calibri"/>
              </a:rPr>
              <a:t>Evidence class, access scopes, data class,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7947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B8B0"/>
                </a:solidFill>
                <a:latin typeface="Calibri"/>
              </a:rPr>
              <a:t>5. Mesh / Topology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379476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EF4"/>
                </a:solidFill>
                <a:latin typeface="Calibri"/>
              </a:rPr>
              <a:t>Relationships: agent → model → tool/MCP → app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4348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B8B0"/>
                </a:solidFill>
                <a:latin typeface="Calibri"/>
              </a:rPr>
              <a:t>6. AI BOM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443484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EF4"/>
                </a:solidFill>
                <a:latin typeface="Calibri"/>
              </a:rPr>
              <a:t>Completeness, field matrix, enrich gaps, CycloneDX export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074919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B8B0"/>
                </a:solidFill>
                <a:latin typeface="Calibri"/>
              </a:rPr>
              <a:t>7. Close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5074919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EF4"/>
                </a:solidFill>
                <a:latin typeface="Calibri"/>
              </a:rPr>
              <a:t>Connectors + SSO + audit — production path on their Azure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B7C7"/>
                </a:solidFill>
                <a:latin typeface="Calibri"/>
              </a:rPr>
              <a:t>Visentra  ·  Confidential  ·  GTM &amp; Technical Briefing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8B7C7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B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Roadmap boundary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8B7C7"/>
                </a:solidFill>
                <a:latin typeface="Calibri"/>
              </a:rPr>
              <a:t>Sell Stage 1 honestly — protect trust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25880"/>
            <a:ext cx="5577840" cy="4663440"/>
          </a:xfrm>
          <a:prstGeom prst="roundRect">
            <a:avLst/>
          </a:prstGeom>
          <a:solidFill>
            <a:srgbClr val="16324C"/>
          </a:solidFill>
          <a:ln>
            <a:solidFill>
              <a:srgbClr val="1E4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257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B8B0"/>
                </a:solidFill>
                <a:latin typeface="Calibri"/>
              </a:rPr>
              <a:t>STAGE 1 — NOW (SELL THIS)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28800"/>
            <a:ext cx="5303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E8EEF4"/>
                </a:solidFill>
                <a:latin typeface="Calibri"/>
              </a:rPr>
              <a:t>▸  Production discovery &amp; visibility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EEF4"/>
                </a:solidFill>
                <a:latin typeface="Calibri"/>
              </a:rPr>
              <a:t>▸  Inventory, mesh, shadow AI, coverage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EEF4"/>
                </a:solidFill>
                <a:latin typeface="Calibri"/>
              </a:rPr>
              <a:t>▸  Full AI BOM + enrichment + snapshots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EEF4"/>
                </a:solidFill>
                <a:latin typeface="Calibri"/>
              </a:rPr>
              <a:t>▸  Connectors, SSO, audit, Azure BYOC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EEF4"/>
                </a:solidFill>
                <a:latin typeface="Calibri"/>
              </a:rPr>
              <a:t>▸  Usage analytics &amp; search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25880"/>
            <a:ext cx="5303520" cy="4663440"/>
          </a:xfrm>
          <a:prstGeom prst="roundRect">
            <a:avLst/>
          </a:prstGeom>
          <a:solidFill>
            <a:srgbClr val="16324C"/>
          </a:solidFill>
          <a:ln>
            <a:solidFill>
              <a:srgbClr val="1E4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463040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B8B0"/>
                </a:solidFill>
                <a:latin typeface="Calibri"/>
              </a:rPr>
              <a:t>STAGE 2 — LATER (DO NOT OVERSELL)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828800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E8EEF4"/>
                </a:solidFill>
                <a:latin typeface="Calibri"/>
              </a:rPr>
              <a:t>▸  Policy / approve-deny workflows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EEF4"/>
                </a:solidFill>
                <a:latin typeface="Calibri"/>
              </a:rPr>
              <a:t>▸  Blocking, quarantine, remediation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EEF4"/>
                </a:solidFill>
                <a:latin typeface="Calibri"/>
              </a:rPr>
              <a:t>▸  Native SIEM/CMDB push feeds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EEF4"/>
                </a:solidFill>
                <a:latin typeface="Calibri"/>
              </a:rPr>
              <a:t>▸  Runtime prompt capture / enforcement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943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8B7C7"/>
                </a:solidFill>
                <a:latin typeface="Calibri"/>
              </a:rPr>
              <a:t>Position Stage 2 as natural expansion once inventory &amp; BOM are trusted — Visentra becomes the system of record for AI assets.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B7C7"/>
                </a:solidFill>
                <a:latin typeface="Calibri"/>
              </a:rPr>
              <a:t>Visentra  ·  Confidential  ·  GTM &amp; Technical Briefing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8B7C7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B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Call to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8B7C7"/>
                </a:solidFill>
                <a:latin typeface="Calibri"/>
              </a:rPr>
              <a:t>Next 30 days for GTM execution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E8EEF4"/>
                </a:solidFill>
                <a:latin typeface="Calibri"/>
              </a:rPr>
              <a:t>▸  Finalize ICP target list (Azure + Copilot / custom-agent programs)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8EEF4"/>
                </a:solidFill>
                <a:latin typeface="Calibri"/>
              </a:rPr>
              <a:t>▸  Package 2-week POV with success criteria: shadow baseline + AI BOM completeness readout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8EEF4"/>
                </a:solidFill>
                <a:latin typeface="Calibri"/>
              </a:rPr>
              <a:t>▸  Enable SE team on demo narrative (slide 18) + live ACA environment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8EEF4"/>
                </a:solidFill>
                <a:latin typeface="Calibri"/>
              </a:rPr>
              <a:t>▸  Publish one-pager: “Before you govern AI agents, you need to see them.”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8EEF4"/>
                </a:solidFill>
                <a:latin typeface="Calibri"/>
              </a:rPr>
              <a:t>▸  Partner brief for Azure SIs / MSSPs — Visentra as Stage-0 discovery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8EEF4"/>
                </a:solidFill>
                <a:latin typeface="Calibri"/>
              </a:rPr>
              <a:t>▸  Collect 3 design-partner logos via POV → case study on Shadow AI reduction &amp; BOM readiness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B8B0"/>
                </a:solidFill>
                <a:latin typeface="Calibri"/>
              </a:rPr>
              <a:t>Visentra — Enterprise AI Agent Discovery &amp; Visibility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B7C7"/>
                </a:solidFill>
                <a:latin typeface="Calibri"/>
              </a:rPr>
              <a:t>Visentra  ·  Confidential  ·  GTM &amp; Technical Briefing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8B7C7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B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Appendix — objection handling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8B7C7"/>
                </a:solidFill>
                <a:latin typeface="Calibri"/>
              </a:rPr>
              <a:t>Keep technical credibility high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B8B0"/>
                </a:solidFill>
                <a:latin typeface="Calibri"/>
              </a:rPr>
              <a:t>We already have CSPM/EDR.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EF4"/>
                </a:solidFill>
                <a:latin typeface="Calibri"/>
              </a:rPr>
              <a:t>Great — Visentra consumes those signals and builds an AI-native inventory, graph, and BOM those tools don’t produce.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B8B0"/>
                </a:solidFill>
                <a:latin typeface="Calibri"/>
              </a:rPr>
              <a:t>Can you block Shadow AI?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68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EF4"/>
                </a:solidFill>
                <a:latin typeface="Calibri"/>
              </a:rPr>
              <a:t>Not in Stage 1 by design. We make Shadow AI visible and attributable so your controls/process can act with evidence.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63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B8B0"/>
                </a:solidFill>
                <a:latin typeface="Calibri"/>
              </a:rPr>
              <a:t>Is this just another CMDB?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383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EF4"/>
                </a:solidFill>
                <a:latin typeface="Calibri"/>
              </a:rPr>
              <a:t>CMDB stores assets. Visentra discovers AI agents continuously, scores evidence, maps relationships, and exports AI BOM composition.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977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B8B0"/>
                </a:solidFill>
                <a:latin typeface="Calibri"/>
              </a:rPr>
              <a:t>Will this invent compliance data?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297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EF4"/>
                </a:solidFill>
                <a:latin typeface="Calibri"/>
              </a:rPr>
              <a:t>No. Unknowns stay explicit. Enrichment and attestations are operator-driven; completeness shows gaps honestly.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892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B8B0"/>
                </a:solidFill>
                <a:latin typeface="Calibri"/>
              </a:rPr>
              <a:t>Must we install agents?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212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EF4"/>
                </a:solidFill>
                <a:latin typeface="Calibri"/>
              </a:rPr>
              <a:t>No Visentra endpoint agent. We are agentless-first via APIs and existing EDR.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B7C7"/>
                </a:solidFill>
                <a:latin typeface="Calibri"/>
              </a:rPr>
              <a:t>Visentra  ·  Confidential  ·  GTM &amp; Technical Briefing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8B7C7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B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Appendix — proof metrics in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8B7C7"/>
                </a:solidFill>
                <a:latin typeface="Calibri"/>
              </a:rPr>
              <a:t>What to show live as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3749039" cy="4754880"/>
          </a:xfrm>
          <a:prstGeom prst="roundRect">
            <a:avLst/>
          </a:prstGeom>
          <a:solidFill>
            <a:srgbClr val="16324C"/>
          </a:solidFill>
          <a:ln>
            <a:solidFill>
              <a:srgbClr val="1E4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342899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B8B0"/>
                </a:solidFill>
                <a:latin typeface="Calibri"/>
              </a:rPr>
              <a:t>EXECUTIVE KPIs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347471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E8EEF4"/>
                </a:solidFill>
                <a:latin typeface="Calibri"/>
              </a:rPr>
              <a:t>▸  Discovered / Confirmed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EEF4"/>
                </a:solidFill>
                <a:latin typeface="Calibri"/>
              </a:rPr>
              <a:t>▸  Ownerless / Shadow AI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EEF4"/>
                </a:solidFill>
                <a:latin typeface="Calibri"/>
              </a:rPr>
              <a:t>▸  Managed % / Avg confidence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EEF4"/>
                </a:solidFill>
                <a:latin typeface="Calibri"/>
              </a:rPr>
              <a:t>▸  Over-permissioned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EEF4"/>
                </a:solidFill>
                <a:latin typeface="Calibri"/>
              </a:rPr>
              <a:t>▸  PII / PHI access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280160"/>
            <a:ext cx="3749039" cy="4754880"/>
          </a:xfrm>
          <a:prstGeom prst="roundRect">
            <a:avLst/>
          </a:prstGeom>
          <a:solidFill>
            <a:srgbClr val="16324C"/>
          </a:solidFill>
          <a:ln>
            <a:solidFill>
              <a:srgbClr val="1E4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417320"/>
            <a:ext cx="342899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B8B0"/>
                </a:solidFill>
                <a:latin typeface="Calibri"/>
              </a:rPr>
              <a:t>AI BOM KPIs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783080"/>
            <a:ext cx="347471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E8EEF4"/>
                </a:solidFill>
                <a:latin typeface="Calibri"/>
              </a:rPr>
              <a:t>▸  Completeness %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EEF4"/>
                </a:solidFill>
                <a:latin typeface="Calibri"/>
              </a:rPr>
              <a:t>▸  50 fields / 7 categories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EEF4"/>
                </a:solidFill>
                <a:latin typeface="Calibri"/>
              </a:rPr>
              <a:t>▸  Systems / Models / Tools&amp;MCP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EEF4"/>
                </a:solidFill>
                <a:latin typeface="Calibri"/>
              </a:rPr>
              <a:t>▸  Enriched % / Shadow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EEF4"/>
                </a:solidFill>
                <a:latin typeface="Calibri"/>
              </a:rPr>
              <a:t>▸  CycloneDX + snapshots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280160"/>
            <a:ext cx="3566160" cy="4754880"/>
          </a:xfrm>
          <a:prstGeom prst="roundRect">
            <a:avLst/>
          </a:prstGeom>
          <a:solidFill>
            <a:srgbClr val="16324C"/>
          </a:solidFill>
          <a:ln>
            <a:solidFill>
              <a:srgbClr val="1E4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41732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B8B0"/>
                </a:solidFill>
                <a:latin typeface="Calibri"/>
              </a:rPr>
              <a:t>COVERAGE KPIs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178308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E8EEF4"/>
                </a:solidFill>
                <a:latin typeface="Calibri"/>
              </a:rPr>
              <a:t>▸  Covered / Configured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EEF4"/>
                </a:solidFill>
                <a:latin typeface="Calibri"/>
              </a:rPr>
              <a:t>▸  Blind / Errors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EEF4"/>
                </a:solidFill>
                <a:latin typeface="Calibri"/>
              </a:rPr>
              <a:t>▸  20 connector types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8EEF4"/>
                </a:solidFill>
                <a:latin typeface="Calibri"/>
              </a:rPr>
              <a:t>▸  11 agent categories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B7C7"/>
                </a:solidFill>
                <a:latin typeface="Calibri"/>
              </a:rPr>
              <a:t>Visentra  ·  Confidential  ·  GTM &amp; Technical Briefing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8B7C7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